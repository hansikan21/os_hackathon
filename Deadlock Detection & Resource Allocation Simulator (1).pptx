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30" autoAdjust="0"/>
    <p:restoredTop sz="94641" autoAdjust="0"/>
  </p:normalViewPr>
  <p:slideViewPr>
    <p:cSldViewPr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9E469A-B629-4DB5-B5C2-F23F0C505E72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89B3A9-5CA4-4EC5-A81C-ED037218B04E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D89B3A9-5CA4-4EC5-A81C-ED037218B04E}" type="slidenum">
              <a:rPr lang="en-US" smtClean="0"/>
              <a:t>4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5A383B-B0F0-469F-B3E4-690FFE676463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2016A3-8FA2-4519-B15E-074191411492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smtClean="0"/>
              <a:t>Deadlock Detection &amp; Resource Allocation Simulator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28728" y="4000504"/>
            <a:ext cx="6572296" cy="2071702"/>
          </a:xfrm>
        </p:spPr>
        <p:txBody>
          <a:bodyPr>
            <a:normAutofit fontScale="25000" lnSpcReduction="20000"/>
          </a:bodyPr>
          <a:lstStyle/>
          <a:p>
            <a:r>
              <a:rPr lang="en-GB" sz="7200" b="1" dirty="0" smtClean="0">
                <a:solidFill>
                  <a:schemeClr val="accent3">
                    <a:lumMod val="75000"/>
                  </a:schemeClr>
                </a:solidFill>
              </a:rPr>
              <a:t>Guided by Mr. </a:t>
            </a:r>
            <a:r>
              <a:rPr lang="en-GB" sz="7200" b="1" dirty="0" err="1" smtClean="0">
                <a:solidFill>
                  <a:schemeClr val="accent3">
                    <a:lumMod val="75000"/>
                  </a:schemeClr>
                </a:solidFill>
              </a:rPr>
              <a:t>Muniraju</a:t>
            </a:r>
            <a:r>
              <a:rPr lang="en-GB" sz="7200" b="1" dirty="0" smtClean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en-GB" sz="7200" b="1" dirty="0" err="1" smtClean="0">
                <a:solidFill>
                  <a:schemeClr val="accent3">
                    <a:lumMod val="75000"/>
                  </a:schemeClr>
                </a:solidFill>
              </a:rPr>
              <a:t>Valamudi</a:t>
            </a:r>
            <a:endParaRPr lang="en-GB" sz="7200" b="1" dirty="0" smtClean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GB" sz="7200" b="1" dirty="0" smtClean="0">
                <a:solidFill>
                  <a:schemeClr val="accent3">
                    <a:lumMod val="75000"/>
                  </a:schemeClr>
                </a:solidFill>
              </a:rPr>
              <a:t>Group :  07 </a:t>
            </a:r>
          </a:p>
          <a:p>
            <a:r>
              <a:rPr lang="en-GB" sz="7200" b="1" dirty="0" smtClean="0">
                <a:solidFill>
                  <a:schemeClr val="accent3">
                    <a:lumMod val="75000"/>
                  </a:schemeClr>
                </a:solidFill>
              </a:rPr>
              <a:t>Section : 06</a:t>
            </a:r>
          </a:p>
          <a:p>
            <a:r>
              <a:rPr lang="en-IN" sz="7200" dirty="0" err="1" smtClean="0">
                <a:solidFill>
                  <a:schemeClr val="tx1"/>
                </a:solidFill>
              </a:rPr>
              <a:t>B.Vaishnavi</a:t>
            </a:r>
            <a:r>
              <a:rPr lang="en-IN" sz="7200" dirty="0" smtClean="0">
                <a:solidFill>
                  <a:schemeClr val="tx1"/>
                </a:solidFill>
              </a:rPr>
              <a:t> :2420090026</a:t>
            </a:r>
            <a:endParaRPr lang="en-US" sz="7200" dirty="0">
              <a:solidFill>
                <a:schemeClr val="tx1"/>
              </a:solidFill>
            </a:endParaRPr>
          </a:p>
          <a:p>
            <a:r>
              <a:rPr lang="en-IN" sz="7200" dirty="0" smtClean="0">
                <a:solidFill>
                  <a:schemeClr val="tx1"/>
                </a:solidFill>
              </a:rPr>
              <a:t> </a:t>
            </a:r>
            <a:r>
              <a:rPr lang="en-IN" sz="7200" dirty="0" err="1" smtClean="0">
                <a:solidFill>
                  <a:schemeClr val="tx1"/>
                </a:solidFill>
              </a:rPr>
              <a:t>N.Hansika</a:t>
            </a:r>
            <a:r>
              <a:rPr lang="en-IN" sz="7200" dirty="0" smtClean="0">
                <a:solidFill>
                  <a:schemeClr val="tx1"/>
                </a:solidFill>
              </a:rPr>
              <a:t> : 2420030420</a:t>
            </a:r>
            <a:endParaRPr lang="en-US" sz="7200" dirty="0">
              <a:solidFill>
                <a:schemeClr val="tx1"/>
              </a:solidFill>
            </a:endParaRPr>
          </a:p>
          <a:p>
            <a:r>
              <a:rPr lang="en-IN" sz="7200" dirty="0" smtClean="0">
                <a:solidFill>
                  <a:schemeClr val="tx1"/>
                </a:solidFill>
              </a:rPr>
              <a:t>  </a:t>
            </a:r>
            <a:r>
              <a:rPr lang="en-IN" sz="7200" dirty="0" err="1" smtClean="0">
                <a:solidFill>
                  <a:schemeClr val="tx1"/>
                </a:solidFill>
              </a:rPr>
              <a:t>Jayadeep</a:t>
            </a:r>
            <a:r>
              <a:rPr lang="en-IN" sz="7200" dirty="0" smtClean="0">
                <a:solidFill>
                  <a:schemeClr val="tx1"/>
                </a:solidFill>
              </a:rPr>
              <a:t> : 2420030381</a:t>
            </a:r>
            <a:endParaRPr lang="en-US" sz="7200" dirty="0">
              <a:solidFill>
                <a:schemeClr val="tx1"/>
              </a:solidFill>
            </a:endParaRPr>
          </a:p>
          <a:p>
            <a:r>
              <a:rPr lang="en-IN" sz="7200" dirty="0" smtClean="0">
                <a:solidFill>
                  <a:schemeClr val="tx1"/>
                </a:solidFill>
              </a:rPr>
              <a:t>       </a:t>
            </a:r>
            <a:r>
              <a:rPr lang="en-IN" sz="7200" dirty="0" err="1" smtClean="0">
                <a:solidFill>
                  <a:schemeClr val="tx1"/>
                </a:solidFill>
              </a:rPr>
              <a:t>Vivek</a:t>
            </a:r>
            <a:r>
              <a:rPr lang="en-IN" sz="7200" dirty="0" smtClean="0">
                <a:solidFill>
                  <a:schemeClr val="tx1"/>
                </a:solidFill>
              </a:rPr>
              <a:t>  : 2420030350</a:t>
            </a:r>
            <a:endParaRPr lang="en-US" sz="7200" dirty="0">
              <a:solidFill>
                <a:schemeClr val="tx1"/>
              </a:solidFill>
            </a:endParaRPr>
          </a:p>
          <a:p>
            <a:r>
              <a:rPr lang="en-IN" sz="11200" dirty="0"/>
              <a:t> </a:t>
            </a:r>
            <a:endParaRPr lang="en-US" sz="11200" dirty="0"/>
          </a:p>
          <a:p>
            <a:endParaRPr lang="en-US" dirty="0"/>
          </a:p>
        </p:txBody>
      </p:sp>
      <p:pic>
        <p:nvPicPr>
          <p:cNvPr id="4" name="Google Shape;6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472" y="500042"/>
            <a:ext cx="8153400" cy="132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>
                <a:solidFill>
                  <a:schemeClr val="accent1">
                    <a:lumMod val="75000"/>
                  </a:schemeClr>
                </a:solidFill>
              </a:rPr>
              <a:t>Project Introduction &amp; Goal</a:t>
            </a:r>
            <a:endParaRPr lang="en-U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3000" dirty="0" smtClean="0">
                <a:solidFill>
                  <a:schemeClr val="tx2">
                    <a:lumMod val="50000"/>
                  </a:schemeClr>
                </a:solidFill>
              </a:rPr>
              <a:t>Operating systems manage multiple processes simultaneously </a:t>
            </a:r>
          </a:p>
          <a:p>
            <a:r>
              <a:rPr lang="en-US" sz="3000" dirty="0" smtClean="0">
                <a:solidFill>
                  <a:schemeClr val="tx2">
                    <a:lumMod val="50000"/>
                  </a:schemeClr>
                </a:solidFill>
              </a:rPr>
              <a:t>Each process requires limited resources (CPU, memory, I/O) </a:t>
            </a:r>
          </a:p>
          <a:p>
            <a:r>
              <a:rPr lang="en-US" sz="3000" dirty="0" smtClean="0">
                <a:solidFill>
                  <a:schemeClr val="tx2">
                    <a:lumMod val="50000"/>
                  </a:schemeClr>
                </a:solidFill>
              </a:rPr>
              <a:t>Improper allocation of these resources can lead to </a:t>
            </a:r>
            <a:r>
              <a:rPr lang="en-US" sz="3000" b="1" dirty="0" smtClean="0">
                <a:solidFill>
                  <a:schemeClr val="tx2">
                    <a:lumMod val="50000"/>
                  </a:schemeClr>
                </a:solidFill>
              </a:rPr>
              <a:t>deadlocks</a:t>
            </a:r>
            <a:r>
              <a:rPr lang="en-US" sz="30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r>
              <a:rPr lang="en-US" sz="3000" dirty="0" smtClean="0">
                <a:solidFill>
                  <a:schemeClr val="tx2">
                    <a:lumMod val="50000"/>
                  </a:schemeClr>
                </a:solidFill>
              </a:rPr>
              <a:t>Deadlocks cause processes to get stuck indefinitely </a:t>
            </a:r>
          </a:p>
          <a:p>
            <a:r>
              <a:rPr lang="en-US" sz="3000" dirty="0" smtClean="0">
                <a:solidFill>
                  <a:schemeClr val="tx2">
                    <a:lumMod val="50000"/>
                  </a:schemeClr>
                </a:solidFill>
              </a:rPr>
              <a:t>this project simulates and detects deadlocks in real time.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Problem Statement 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3100" dirty="0" smtClean="0">
                <a:solidFill>
                  <a:schemeClr val="tx2">
                    <a:lumMod val="50000"/>
                  </a:schemeClr>
                </a:solidFill>
              </a:rPr>
              <a:t>In real-world systems, processes continuously request and release resources dynamically </a:t>
            </a:r>
          </a:p>
          <a:p>
            <a:r>
              <a:rPr lang="en-US" sz="3100" dirty="0" smtClean="0">
                <a:solidFill>
                  <a:schemeClr val="tx2">
                    <a:lumMod val="50000"/>
                  </a:schemeClr>
                </a:solidFill>
              </a:rPr>
              <a:t>If resources are not allocated properly, processes may end up waiting for each other </a:t>
            </a:r>
          </a:p>
          <a:p>
            <a:r>
              <a:rPr lang="en-US" sz="3100" dirty="0" smtClean="0">
                <a:solidFill>
                  <a:schemeClr val="tx2">
                    <a:lumMod val="50000"/>
                  </a:schemeClr>
                </a:solidFill>
              </a:rPr>
              <a:t>This creates </a:t>
            </a:r>
            <a:r>
              <a:rPr lang="en-US" sz="3100" b="1" dirty="0" smtClean="0">
                <a:solidFill>
                  <a:schemeClr val="tx2">
                    <a:lumMod val="50000"/>
                  </a:schemeClr>
                </a:solidFill>
              </a:rPr>
              <a:t>circular dependencies</a:t>
            </a:r>
            <a:r>
              <a:rPr lang="en-US" sz="3100" dirty="0" smtClean="0">
                <a:solidFill>
                  <a:schemeClr val="tx2">
                    <a:lumMod val="50000"/>
                  </a:schemeClr>
                </a:solidFill>
              </a:rPr>
              <a:t>, which lead to deadlocks </a:t>
            </a:r>
          </a:p>
          <a:p>
            <a:r>
              <a:rPr lang="en-US" sz="3100" dirty="0" smtClean="0">
                <a:solidFill>
                  <a:schemeClr val="tx2">
                    <a:lumMod val="50000"/>
                  </a:schemeClr>
                </a:solidFill>
              </a:rPr>
              <a:t>Deadlocks reduce system performance and may even crash the system </a:t>
            </a:r>
          </a:p>
          <a:p>
            <a:pPr>
              <a:buNone/>
            </a:pPr>
            <a:r>
              <a:rPr lang="en-US" sz="3100" b="1" dirty="0" smtClean="0">
                <a:solidFill>
                  <a:schemeClr val="tx2">
                    <a:lumMod val="50000"/>
                  </a:schemeClr>
                </a:solidFill>
              </a:rPr>
              <a:t>Need for a system:</a:t>
            </a:r>
            <a:endParaRPr lang="en-US" sz="3100" dirty="0" smtClean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3100" dirty="0" smtClean="0">
                <a:solidFill>
                  <a:schemeClr val="tx2">
                    <a:lumMod val="75000"/>
                  </a:schemeClr>
                </a:solidFill>
              </a:rPr>
              <a:t>To detect deadlocks at an early stage </a:t>
            </a:r>
          </a:p>
          <a:p>
            <a:r>
              <a:rPr lang="en-US" sz="3100" dirty="0" smtClean="0">
                <a:solidFill>
                  <a:schemeClr val="tx2">
                    <a:lumMod val="75000"/>
                  </a:schemeClr>
                </a:solidFill>
              </a:rPr>
              <a:t>To prevent unsafe allocation of resources </a:t>
            </a:r>
          </a:p>
          <a:p>
            <a:r>
              <a:rPr lang="en-US" sz="3100" dirty="0" smtClean="0">
                <a:solidFill>
                  <a:schemeClr val="tx2">
                    <a:lumMod val="75000"/>
                  </a:schemeClr>
                </a:solidFill>
              </a:rPr>
              <a:t>To provide recovery strategies when deadlocks occur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Objectives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To simulate how processes interact with limited system resources.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 To implement algorithms that detect and avoid deadlocks .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To identify whether the system is in a safe or unsafe state .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To generate safe execution sequences for processes .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To provide possible solutions for recovering from deadlocks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OS Concepts Used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sz="3400" b="1" dirty="0" smtClean="0">
                <a:solidFill>
                  <a:schemeClr val="tx2">
                    <a:lumMod val="75000"/>
                  </a:schemeClr>
                </a:solidFill>
              </a:rPr>
              <a:t>Deadlock Conditions</a:t>
            </a:r>
            <a:r>
              <a:rPr lang="en-US" sz="3400" b="1" dirty="0" smtClean="0"/>
              <a:t>:</a:t>
            </a: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Mutual Exclusion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– A resource can be used by only one process at a time </a:t>
            </a: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Hold and Wait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– A process holds resources while waiting for others </a:t>
            </a: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No Preemption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– Resources cannot be forcibly taken away </a:t>
            </a: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Circular Wait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– Processes form a circular chain of dependencies </a:t>
            </a:r>
          </a:p>
          <a:p>
            <a:pPr>
              <a:buNone/>
            </a:pPr>
            <a:endParaRPr lang="en-US" b="1" dirty="0" smtClean="0"/>
          </a:p>
          <a:p>
            <a:pPr>
              <a:buNone/>
            </a:pPr>
            <a:r>
              <a:rPr lang="en-US" sz="3400" b="1" dirty="0" smtClean="0">
                <a:solidFill>
                  <a:schemeClr val="tx2">
                    <a:lumMod val="75000"/>
                  </a:schemeClr>
                </a:solidFill>
              </a:rPr>
              <a:t>Other Concepts:</a:t>
            </a: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Resource Allocation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– Managing how resources are distributed </a:t>
            </a: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Banker’s Algorithm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– Used to avoid unsafe states </a:t>
            </a:r>
          </a:p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Wait-For Graph</a:t>
            </a:r>
            <a:r>
              <a:rPr lang="en-US" dirty="0" smtClean="0">
                <a:solidFill>
                  <a:schemeClr val="accent1">
                    <a:lumMod val="75000"/>
                  </a:schemeClr>
                </a:solidFill>
              </a:rPr>
              <a:t> – Used to detect deadlocks through cycles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System Architecture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Workflow: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User inputs process and resource details.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Resource Allocation Module assigns resources to processes.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Banker’s Algorithm checks whether the system is in a safe state.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If unsafe, the Wait-For Graph is used to detect deadlocks.</a:t>
            </a:r>
          </a:p>
          <a:p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The system then displays the final result</a:t>
            </a:r>
          </a:p>
          <a:p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S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afe state with sequence </a:t>
            </a:r>
            <a:r>
              <a:rPr lang="en-US" dirty="0" err="1" smtClean="0">
                <a:solidFill>
                  <a:schemeClr val="accent1">
                    <a:lumMod val="50000"/>
                  </a:schemeClr>
                </a:solidFill>
              </a:rPr>
              <a:t>ORDeadlock</a:t>
            </a:r>
            <a:r>
              <a:rPr lang="en-US" dirty="0" smtClean="0">
                <a:solidFill>
                  <a:schemeClr val="accent1">
                    <a:lumMod val="50000"/>
                  </a:schemeClr>
                </a:solidFill>
              </a:rPr>
              <a:t> detected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Banker’s Algorithm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  <a:t>Banker’s Algorithm is used for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deadlock avoidance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  <a:p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  <a:t>It checks whether granting a resource request will keep the system in a safe state </a:t>
            </a:r>
          </a:p>
          <a:p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  <a:t>It calculates the </a:t>
            </a:r>
            <a:r>
              <a:rPr lang="en-US" sz="2800" b="1" dirty="0" smtClean="0">
                <a:solidFill>
                  <a:schemeClr val="tx2">
                    <a:lumMod val="50000"/>
                  </a:schemeClr>
                </a:solidFill>
              </a:rPr>
              <a:t>Need matrix</a:t>
            </a: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  <a:t> using:</a:t>
            </a:r>
            <a:b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2800" i="1" dirty="0" smtClean="0">
                <a:solidFill>
                  <a:schemeClr val="tx2">
                    <a:lumMod val="50000"/>
                  </a:schemeClr>
                </a:solidFill>
              </a:rPr>
              <a:t>Need = Max – Allocation </a:t>
            </a:r>
          </a:p>
          <a:p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  <a:t>The algorithm ensures that all processes can complete execution </a:t>
            </a:r>
          </a:p>
          <a:p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  <a:t>If a safe sequence exists → resource is allocated</a:t>
            </a:r>
            <a:b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sz="2800" dirty="0" smtClean="0">
                <a:solidFill>
                  <a:schemeClr val="tx2">
                    <a:lumMod val="50000"/>
                  </a:schemeClr>
                </a:solidFill>
              </a:rPr>
              <a:t>if not → request is denied to prevent deadlock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Deadlock Detection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In this method, processes are represented as nodes in a graph.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Edges represent dependencies between processes (who is waiting for whom).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If a process is waiting for another, an edge is drawn between them.</a:t>
            </a:r>
          </a:p>
          <a:p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 If the graph contains a </a:t>
            </a:r>
            <a:r>
              <a:rPr lang="en-US" sz="2000" b="1" dirty="0" smtClean="0">
                <a:solidFill>
                  <a:schemeClr val="tx2">
                    <a:lumMod val="50000"/>
                  </a:schemeClr>
                </a:solidFill>
              </a:rPr>
              <a:t>cycle</a:t>
            </a:r>
            <a:r>
              <a:rPr lang="en-US" sz="2000" dirty="0" smtClean="0">
                <a:solidFill>
                  <a:schemeClr val="tx2">
                    <a:lumMod val="50000"/>
                  </a:schemeClr>
                </a:solidFill>
              </a:rPr>
              <a:t>, it indicates a deadlock</a:t>
            </a:r>
          </a:p>
          <a:p>
            <a:endParaRPr lang="en-US" sz="2000" dirty="0">
              <a:solidFill>
                <a:schemeClr val="tx2">
                  <a:lumMod val="50000"/>
                </a:schemeClr>
              </a:solidFill>
            </a:endParaRPr>
          </a:p>
        </p:txBody>
      </p:sp>
      <p:pic>
        <p:nvPicPr>
          <p:cNvPr id="4" name="Picture 3" descr="ChatGPT Image Mar 30, 2026, 02_15_32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00" y="3500438"/>
            <a:ext cx="7143800" cy="297656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Output &amp; Features 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Outputs: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Displays whether the system is in a safe or unsafe state.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Shows safe execution sequence if available.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Alerts when a deadlock  is detected </a:t>
            </a:r>
          </a:p>
          <a:p>
            <a:pPr>
              <a:buNone/>
            </a:pPr>
            <a:r>
              <a:rPr lang="en-US" b="1" dirty="0" smtClean="0">
                <a:solidFill>
                  <a:schemeClr val="tx2">
                    <a:lumMod val="50000"/>
                  </a:schemeClr>
                </a:solidFill>
              </a:rPr>
              <a:t>Features: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Simulates multiple processes and resource types.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Performs real-time deadlock detection.</a:t>
            </a:r>
          </a:p>
          <a:p>
            <a:r>
              <a:rPr lang="en-US" dirty="0" smtClean="0">
                <a:solidFill>
                  <a:schemeClr val="tx2">
                    <a:lumMod val="50000"/>
                  </a:schemeClr>
                </a:solidFill>
              </a:rPr>
              <a:t>Suggests recovery actions (e.g., terminate process, release resource)Provides clear visualization of system state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Conclusion &amp; Learning Outcomes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Deadlocks are critical problems that affect system performance and stability.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This simulator helps in understanding how deadlocks occur and how to prevent them.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It demonstrates practical implementation of resource allocation strategies.</a:t>
            </a:r>
          </a:p>
          <a:p>
            <a:pPr>
              <a:buNone/>
            </a:pPr>
            <a:r>
              <a:rPr lang="en-US" sz="2400" b="1" dirty="0" smtClean="0">
                <a:solidFill>
                  <a:schemeClr val="tx2">
                    <a:lumMod val="50000"/>
                  </a:schemeClr>
                </a:solidFill>
              </a:rPr>
              <a:t>Learning Outcomes: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Understanding of deadlock conditions and causes.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Knowledge of resource management techniques.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Practical implementation of Banker’s Algorithm.</a:t>
            </a:r>
          </a:p>
          <a:p>
            <a:r>
              <a:rPr lang="en-US" sz="2400" dirty="0" smtClean="0">
                <a:solidFill>
                  <a:schemeClr val="tx2">
                    <a:lumMod val="50000"/>
                  </a:schemeClr>
                </a:solidFill>
              </a:rPr>
              <a:t>Improved understanding of system reliability and efficiency</a:t>
            </a:r>
            <a:endParaRPr lang="en-US" sz="2400" dirty="0">
              <a:solidFill>
                <a:schemeClr val="tx2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6600" b="1" dirty="0" smtClean="0">
                <a:solidFill>
                  <a:schemeClr val="accent1">
                    <a:lumMod val="50000"/>
                  </a:schemeClr>
                </a:solidFill>
              </a:rPr>
              <a:t>THANK YOU</a:t>
            </a:r>
            <a:endParaRPr lang="en-US" sz="66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Google Shape;130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286512" y="0"/>
            <a:ext cx="2857488" cy="1833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359</TotalTime>
  <Words>555</Words>
  <Application>Microsoft Office PowerPoint</Application>
  <PresentationFormat>On-screen Show (4:3)</PresentationFormat>
  <Paragraphs>80</Paragraphs>
  <Slides>11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Deadlock Detection &amp; Resource Allocation Simulator</vt:lpstr>
      <vt:lpstr>Project Introduction &amp; Goal</vt:lpstr>
      <vt:lpstr>Problem Statement </vt:lpstr>
      <vt:lpstr>Objectives</vt:lpstr>
      <vt:lpstr>OS Concepts Used</vt:lpstr>
      <vt:lpstr>System Architecture</vt:lpstr>
      <vt:lpstr>Banker’s Algorithm</vt:lpstr>
      <vt:lpstr>Deadlock Detection</vt:lpstr>
      <vt:lpstr>Output &amp; Features </vt:lpstr>
      <vt:lpstr>Conclusion &amp; Learning Outcomes</vt:lpstr>
      <vt:lpstr>THANK YOU</vt:lpstr>
    </vt:vector>
  </TitlesOfParts>
  <Company>HP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 Detection &amp; Resource Allocation Simulator</dc:title>
  <dc:creator>nallu</dc:creator>
  <cp:lastModifiedBy>nallu</cp:lastModifiedBy>
  <cp:revision>20</cp:revision>
  <dcterms:created xsi:type="dcterms:W3CDTF">2026-03-30T03:19:17Z</dcterms:created>
  <dcterms:modified xsi:type="dcterms:W3CDTF">2026-03-30T09:18:28Z</dcterms:modified>
</cp:coreProperties>
</file>